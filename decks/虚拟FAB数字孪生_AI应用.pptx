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SEMICONDUCTOR  ·  DIGITAL TWIN  · 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虚拟 FAB 数字孪生中的 AI 技术应用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1808E"/>
                </a:solidFill>
                <a:latin typeface="微软雅黑"/>
                <a:ea typeface="微软雅黑"/>
                <a:cs typeface="微软雅黑"/>
              </a:rPr>
              <a:t>AI-Powered Digital Twin for the Virtual Semiconductor Fab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95728"/>
            <a:ext cx="219456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10543032" cy="1170432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889504"/>
            <a:ext cx="9966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63A5C"/>
                </a:solidFill>
                <a:latin typeface="微软雅黑"/>
                <a:ea typeface="微软雅黑"/>
                <a:cs typeface="微软雅黑"/>
              </a:rPr>
              <a:t>什么是虚拟 FAB 数字孪生？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在虚拟空间中对整座晶圆厂（设备、产线、工艺、物流）进行高保真建模与实时映射，与物理厂双向同步。面对数百台设备、上千道工艺与海量传感数据，AI 成为驱动孪生体“感知-预测-优化-决策”闭环的核心引擎。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160520"/>
            <a:ext cx="3319272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4160520"/>
            <a:ext cx="3319272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453128"/>
            <a:ext cx="2770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感知与预测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73752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Sense &amp; Predict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230368"/>
            <a:ext cx="27706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融合海量设备传感与工艺数据，实时预测设备状态与工艺结果。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4160520"/>
            <a:ext cx="3319272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4160520"/>
            <a:ext cx="3319272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59" y="4453128"/>
            <a:ext cx="2770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优化与控制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4873752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Optimize &amp;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5230368"/>
            <a:ext cx="27706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数据驱动的参数寻优与在线控制，提升良率与工艺稳定性。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4160520"/>
            <a:ext cx="3319272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4160520"/>
            <a:ext cx="3319272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453128"/>
            <a:ext cx="2770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决策与自治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873752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Decide &amp; Autonomy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5230368"/>
            <a:ext cx="27706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以孪生体为闭环，支撑调度、维护与工艺的智能决策。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808E"/>
                </a:solidFill>
                <a:latin typeface="微软雅黑"/>
                <a:ea typeface="微软雅黑"/>
                <a:cs typeface="微软雅黑"/>
              </a:rPr>
              <a:t>01 / 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355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808E"/>
                </a:solidFill>
                <a:latin typeface="微软雅黑"/>
                <a:ea typeface="微软雅黑"/>
                <a:cs typeface="微软雅黑"/>
              </a:rPr>
              <a:t>虚拟 FAB 数字孪生 · AI 应用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6309360"/>
            <a:ext cx="10543032" cy="12801"/>
          </a:xfrm>
          <a:prstGeom prst="rect">
            <a:avLst/>
          </a:prstGeom>
          <a:solidFill>
            <a:srgbClr val="D9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AI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关键 AI 应用场景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82880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3319272" cy="1874519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78992" y="2112263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093976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预测性维护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459736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Predictive Maintenance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98648"/>
            <a:ext cx="28072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基于振动/温度/电流等传感数据预测故障与剩余寿命（RUL），降低非计划停机。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74519"/>
            <a:ext cx="3319272" cy="1874519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90872" y="2112263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093976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虚拟量测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459736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Virtual Metrology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898648"/>
            <a:ext cx="28072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用机器学习从工艺参数预测膜厚/关键尺寸等指标，近实时全检、减少实测。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874519"/>
            <a:ext cx="3319272" cy="1874519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02751" y="2112263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399" y="2093976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先进过程控制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399" y="2459736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APC / Run-to-Run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1" y="2898648"/>
            <a:ext cx="28072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结合强化学习与优化算法在线调参，抑制漂移、提升良率与稳定性。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023359"/>
            <a:ext cx="3319272" cy="1874519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78992" y="4261103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242816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生产调度优化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608575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Scheduling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5047488"/>
            <a:ext cx="28072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以强化学习/运筹优化派工与物流路径，提升瓶颈设备利用率与产能。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4023359"/>
            <a:ext cx="3319272" cy="1874519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90872" y="4261103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242816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缺陷检测与根因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608575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Defect Detection &amp; RCA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872" y="5047488"/>
            <a:ext cx="28072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计算机视觉识别晶圆缺陷模式，结合数据分析定位工艺根因。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4023359"/>
            <a:ext cx="3319272" cy="1874519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02751" y="4261103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399" y="4242816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仿真加速与大模型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399" y="4608575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Surrogate &amp; LLM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1" y="5047488"/>
            <a:ext cx="28072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AI 代理模型加速高保真仿真；大模型辅助工程分析与决策。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808E"/>
                </a:solidFill>
                <a:latin typeface="微软雅黑"/>
                <a:ea typeface="微软雅黑"/>
                <a:cs typeface="微软雅黑"/>
              </a:rPr>
              <a:t>02 / 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355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808E"/>
                </a:solidFill>
                <a:latin typeface="微软雅黑"/>
                <a:ea typeface="微软雅黑"/>
                <a:cs typeface="微软雅黑"/>
              </a:rPr>
              <a:t>虚拟 FAB 数字孪生 · AI 应用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6309360"/>
            <a:ext cx="10543032" cy="12801"/>
          </a:xfrm>
          <a:prstGeom prst="rect">
            <a:avLst/>
          </a:prstGeom>
          <a:solidFill>
            <a:srgbClr val="D9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