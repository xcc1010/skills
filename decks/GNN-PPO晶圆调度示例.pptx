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STATE  ·  GRAPH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GNN：把晶圆车间看成一张图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201168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002536" y="2468880"/>
            <a:ext cx="1997964" cy="0"/>
          </a:xfrm>
          <a:prstGeom prst="line">
            <a:avLst/>
          </a:prstGeom>
          <a:ln w="254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002536" y="2651760"/>
            <a:ext cx="1997964" cy="1051560"/>
          </a:xfrm>
          <a:prstGeom prst="line">
            <a:avLst/>
          </a:prstGeom>
          <a:ln w="254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2916936"/>
            <a:ext cx="0" cy="338327"/>
          </a:xfrm>
          <a:prstGeom prst="line">
            <a:avLst/>
          </a:prstGeom>
          <a:ln w="20320">
            <a:solidFill>
              <a:srgbClr val="71808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02536" y="3703320"/>
            <a:ext cx="1997964" cy="0"/>
          </a:xfrm>
          <a:prstGeom prst="line">
            <a:avLst/>
          </a:prstGeom>
          <a:ln w="20320">
            <a:solidFill>
              <a:srgbClr val="9AB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002536" y="3840480"/>
            <a:ext cx="1997964" cy="1097280"/>
          </a:xfrm>
          <a:prstGeom prst="line">
            <a:avLst/>
          </a:prstGeom>
          <a:ln w="20320">
            <a:solidFill>
              <a:srgbClr val="9AB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106424" y="2020824"/>
            <a:ext cx="896112" cy="896112"/>
          </a:xfrm>
          <a:prstGeom prst="ellipse">
            <a:avLst/>
          </a:prstGeom>
          <a:solidFill>
            <a:srgbClr val="EEF3F8"/>
          </a:solidFill>
          <a:ln w="222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Lot A</a:t>
            </a:r>
          </a:p>
        </p:txBody>
      </p:sp>
      <p:sp>
        <p:nvSpPr>
          <p:cNvPr id="12" name="Oval 11"/>
          <p:cNvSpPr/>
          <p:nvPr/>
        </p:nvSpPr>
        <p:spPr>
          <a:xfrm>
            <a:off x="1106424" y="3255263"/>
            <a:ext cx="896112" cy="896112"/>
          </a:xfrm>
          <a:prstGeom prst="ellipse">
            <a:avLst/>
          </a:prstGeom>
          <a:solidFill>
            <a:srgbClr val="EEF3F8"/>
          </a:solidFill>
          <a:ln w="222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Lot B</a:t>
            </a:r>
          </a:p>
        </p:txBody>
      </p:sp>
      <p:sp>
        <p:nvSpPr>
          <p:cNvPr id="13" name="Oval 12"/>
          <p:cNvSpPr/>
          <p:nvPr/>
        </p:nvSpPr>
        <p:spPr>
          <a:xfrm>
            <a:off x="1106424" y="4489704"/>
            <a:ext cx="896112" cy="896112"/>
          </a:xfrm>
          <a:prstGeom prst="ellipse">
            <a:avLst/>
          </a:prstGeom>
          <a:solidFill>
            <a:srgbClr val="EEF3F8"/>
          </a:solidFill>
          <a:ln w="222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Lot 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0500" y="2103120"/>
            <a:ext cx="1417320" cy="731520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EUV 光刻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0500" y="3337560"/>
            <a:ext cx="1417320" cy="731520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刻蚀 Etch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500" y="4572000"/>
            <a:ext cx="1417320" cy="731520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4068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──  可加工 / 后续边       ┈┈  资源竞争边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828800"/>
            <a:ext cx="48006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1828800"/>
            <a:ext cx="91440" cy="1783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1975104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节点与特征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377440"/>
            <a:ext cx="443484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Lot 节点：当前层、产品、优先级、交期 slack、等待时长、剩余工序、下一步机型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设备节点：机型、状态（空闲/加工/故障/换型）、当前 recipe、资质集合、剩余加工时间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749039"/>
            <a:ext cx="4800600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3749039"/>
            <a:ext cx="91440" cy="15727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877056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四类边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261104"/>
            <a:ext cx="4434840" cy="1005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可加工边：lot 下一步能上哪台设备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工艺先后边：lot 的工序路线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资源竞争边：抢同一设备的 lot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设备邻接边：同一工区的机台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8064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806440"/>
            <a:ext cx="9966960" cy="65836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3A5C"/>
                </a:solidFill>
                <a:latin typeface="微软雅黑"/>
                <a:ea typeface="微软雅黑"/>
                <a:cs typeface="微软雅黑"/>
              </a:rPr>
              <a:t>消息传递（GCN / GAT）：每个 lot 沿边聚合邻居 → 感知下游拥堵、瓶颈松紧、竞争对手；对节点数 / 排列不变 → 12 lot·4 机训练的策略，可零改动泛化到 30 lot·6 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POLICY  ·  DECISION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PPO：在图上学会派工决策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201168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697480" cy="8412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候选 lot 的</a:t>
            </a:r>
          </a:p>
          <a:p>
            <a:pPr algn="ctr"/>
            <a:r>
              <a:rPr sz="12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GNN embedding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57600" y="2194560"/>
            <a:ext cx="457200" cy="20116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874519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Actor·softmax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874519"/>
            <a:ext cx="2697480" cy="84124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各 lot 的</a:t>
            </a:r>
          </a:p>
          <a:p>
            <a:pPr algn="ctr"/>
            <a:r>
              <a:rPr sz="12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装载概率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2194560"/>
            <a:ext cx="457200" cy="20116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74519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采样/argmax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874519"/>
            <a:ext cx="2697480" cy="841248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动作：装 Lot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92608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E4ECF3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163A5C"/>
                </a:solidFill>
                <a:latin typeface="微软雅黑"/>
                <a:ea typeface="微软雅黑"/>
                <a:cs typeface="微软雅黑"/>
              </a:rPr>
              <a:t>Critic 估状态价值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596128" y="2715768"/>
            <a:ext cx="0" cy="210312"/>
          </a:xfrm>
          <a:prstGeom prst="line">
            <a:avLst/>
          </a:prstGeom>
          <a:ln w="17780">
            <a:solidFill>
              <a:srgbClr val="7180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86600" y="3035808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→ GAE 优势，指导 Actor 更新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03320"/>
            <a:ext cx="495604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703320"/>
            <a:ext cx="91440" cy="123444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3858768"/>
            <a:ext cx="1234440" cy="310896"/>
          </a:xfrm>
          <a:prstGeom prst="roundRect">
            <a:avLst>
              <a:gd name="adj" fmla="val 25000"/>
            </a:avLst>
          </a:prstGeom>
          <a:solidFill>
            <a:srgbClr val="F2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A83A2E"/>
                </a:solidFill>
                <a:latin typeface="微软雅黑"/>
                <a:ea typeface="微软雅黑"/>
                <a:cs typeface="微软雅黑"/>
              </a:rPr>
              <a:t>FIFO 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79392"/>
            <a:ext cx="44805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装 Lot A（到货最早）：但下游刻蚀机拥堵 → 占着瓶颈却换不来实际进度。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3703320"/>
            <a:ext cx="495604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3703320"/>
            <a:ext cx="91440" cy="1234440"/>
          </a:xfrm>
          <a:prstGeom prst="rect">
            <a:avLst/>
          </a:prstGeom>
          <a:solidFill>
            <a:srgbClr val="1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19088" y="3858768"/>
            <a:ext cx="1371600" cy="310896"/>
          </a:xfrm>
          <a:prstGeom prst="roundRect">
            <a:avLst>
              <a:gd name="adj" fmla="val 25000"/>
            </a:avLst>
          </a:prstGeom>
          <a:solidFill>
            <a:srgbClr val="E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1E7A55"/>
                </a:solidFill>
                <a:latin typeface="微软雅黑"/>
                <a:ea typeface="微软雅黑"/>
                <a:cs typeface="微软雅黑"/>
              </a:rPr>
              <a:t>GNN+PPO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279392"/>
            <a:ext cx="452628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装 Lot B：交期紧，且做完正好喂饱空转的刻蚀机 → 救急 + 维持全厂流动。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389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奖励塑形 Reward Shaping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04688"/>
            <a:ext cx="2487168" cy="4572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E7A55"/>
                </a:solidFill>
                <a:latin typeface="微软雅黑"/>
                <a:ea typeface="微软雅黑"/>
                <a:cs typeface="微软雅黑"/>
              </a:rPr>
              <a:t>+  推进 lot 完工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5504688"/>
            <a:ext cx="2487168" cy="4572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3A2E"/>
                </a:solidFill>
                <a:latin typeface="微软雅黑"/>
                <a:ea typeface="微软雅黑"/>
                <a:cs typeface="微软雅黑"/>
              </a:rPr>
              <a:t>−  周期 / 延误（hot lot 加权）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5504688"/>
            <a:ext cx="2487168" cy="4572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E7A55"/>
                </a:solidFill>
                <a:latin typeface="微软雅黑"/>
                <a:ea typeface="微软雅黑"/>
                <a:cs typeface="微软雅黑"/>
              </a:rPr>
              <a:t>+  瓶颈光刻不空转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5504688"/>
            <a:ext cx="2487168" cy="457200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 w="1270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3A2E"/>
                </a:solidFill>
                <a:latin typeface="微软雅黑"/>
                <a:ea typeface="微软雅黑"/>
                <a:cs typeface="微软雅黑"/>
              </a:rPr>
              <a:t>−  hot lot 干等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奖励延迟 → 用 GAE 把未来回报折现回当下，解决“这一步几小时后才见效”的信用分配问题。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