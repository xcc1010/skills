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RESEARCH FRONTIER  · 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GNN + PPO：前沿最强的孪生调度范式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201168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194560" cy="749808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车间状态图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State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队列 / 设备 / 在制品 / 交期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1920240"/>
            <a:ext cx="320040" cy="20116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645920"/>
            <a:ext cx="2194560" cy="749808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64792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GNN 编码器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7568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Graph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4144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消息传递聚合结构信息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06440" y="1920240"/>
            <a:ext cx="320040" cy="20116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194560" cy="749808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64792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PPO 策略网络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7568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Policy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4144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输出派工动作概率分布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03919" y="1920240"/>
            <a:ext cx="320040" cy="201168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1645920"/>
            <a:ext cx="2194560" cy="749808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764792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调度 / 派工决策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07568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Dispatch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441448"/>
            <a:ext cx="219456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选 lot / 选规则 / 组批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2907792"/>
            <a:ext cx="10287000" cy="420624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907792"/>
            <a:ext cx="10287000" cy="42062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数字孪生环境（离散事件仿真 DES）—— 执行动作、推进时间，返回新状态与奖励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364992"/>
            <a:ext cx="10287000" cy="256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1808E"/>
                </a:solidFill>
                <a:latin typeface="微软雅黑"/>
                <a:ea typeface="微软雅黑"/>
                <a:cs typeface="微软雅黑"/>
              </a:rPr>
              <a:t>↑ 环境将新状态 / 奖励反馈给策略，构成闭环训练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639312"/>
            <a:ext cx="4956048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91440" cy="2103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3803904"/>
            <a:ext cx="4498848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图神经网络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142232"/>
            <a:ext cx="44988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GNN · State Representation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480560"/>
            <a:ext cx="4453128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建图：工序、设备、在制品为节点，工序先后与资源共享为边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节点特征：队列长度、设备状态、lot 交期 / 剩余工序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消息传递（GCN / GAT 注意力）聚合全局 WIP 与瓶颈信息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对节点数 / 排列不变 → 小样本训练可泛化到不同产品、设备数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3639312"/>
            <a:ext cx="4956048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44768" y="3639312"/>
            <a:ext cx="91440" cy="2103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803904"/>
            <a:ext cx="4498848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02B"/>
                </a:solidFill>
                <a:latin typeface="微软雅黑"/>
                <a:ea typeface="微软雅黑"/>
                <a:cs typeface="微软雅黑"/>
              </a:rPr>
              <a:t>近端策略优化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142232"/>
            <a:ext cx="4498848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PPO · Policy Optimization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4480560"/>
            <a:ext cx="4453128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Actor 输出派工动作分布，Critic 估计状态价值，联合训练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裁剪式目标（clip）限制更新幅度 → 稳定、不易发散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GAE 优势估计 + 熵正则，平衡长期回报与探索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74350"/>
                </a:solidFill>
                <a:latin typeface="微软雅黑"/>
                <a:ea typeface="微软雅黑"/>
                <a:cs typeface="微软雅黑"/>
              </a:rPr>
              <a:t>• 奖励塑形应对延迟信用：周期时间 / 准时率 / 瓶颈利用率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870448"/>
            <a:ext cx="10287000" cy="56692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870448"/>
            <a:ext cx="9829800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63A5C"/>
                </a:solidFill>
                <a:latin typeface="微软雅黑"/>
                <a:ea typeface="微软雅黑"/>
                <a:cs typeface="微软雅黑"/>
              </a:rPr>
              <a:t>落地要点：动作空间用「GNN + 指针网络」或「RL 选派工规则」压缩；数字孪生须高保真且可加速，以缩小 sim-to-real 差距、保障样本效率。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