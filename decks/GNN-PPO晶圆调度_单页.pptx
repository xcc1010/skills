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058400" cy="3200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DIGITAL TWIN · AI SCHEDULING</a:t>
            </a:r>
            <a:endParaRPr sz="1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694944"/>
            <a:ext cx="10789920" cy="5486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GNN + PPO：晶圆数字孪生智能调度</a:t>
            </a:r>
            <a:endParaRPr sz="2500" b="1">
              <a:solidFill>
                <a:srgbClr val="1620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120640" cy="16642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6642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892807"/>
            <a:ext cx="466344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GNN · 图神经网络</a:t>
            </a:r>
            <a:endParaRPr sz="1300" b="1">
              <a:solidFill>
                <a:srgbClr val="1620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97280" y="2240280"/>
            <a:ext cx="4572000" cy="548640"/>
          </a:xfrm>
          <a:prstGeom prst="roundRect">
            <a:avLst>
              <a:gd name="adj" fmla="val 7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240280"/>
            <a:ext cx="4251959" cy="5486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在“图”结构数据上学习：靠节点间“消息传递”聚合邻居信息，得到蕴含结构关系的表征。</a:t>
            </a:r>
            <a:endParaRPr sz="950" b="0">
              <a:solidFill>
                <a:srgbClr val="163A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" y="2880360"/>
            <a:ext cx="4617720" cy="5029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3743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建图：lot / 设备为节点，可加工 / 竞争为边</a:t>
            </a:r>
            <a:endParaRPr sz="1000" b="0">
              <a:solidFill>
                <a:srgbClr val="3743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3743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消息传递感知下游拥堵与瓶颈；规模 / 排列不变 → 可泛化</a:t>
            </a:r>
            <a:endParaRPr sz="1000" b="0">
              <a:solidFill>
                <a:srgbClr val="3743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45352" y="1783080"/>
            <a:ext cx="5120640" cy="16642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783080"/>
            <a:ext cx="91440" cy="16642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892807"/>
            <a:ext cx="4663440" cy="29260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PPO · 近端策略优化</a:t>
            </a:r>
            <a:endParaRPr sz="1300" b="1">
              <a:solidFill>
                <a:srgbClr val="1620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19672" y="2240280"/>
            <a:ext cx="4572000" cy="548640"/>
          </a:xfrm>
          <a:prstGeom prst="roundRect">
            <a:avLst>
              <a:gd name="adj" fmla="val 7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2240280"/>
            <a:ext cx="4251959" cy="5486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主流强化学习（Actor-Critic）算法：用“裁剪”限制每步更新幅度，稳定且样本高效。</a:t>
            </a:r>
            <a:endParaRPr sz="950" b="0">
              <a:solidFill>
                <a:srgbClr val="163A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37960" y="2880360"/>
            <a:ext cx="4617720" cy="5029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3743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Actor 打分选 lot，Critic 估值（GAE）指导更新</a:t>
            </a:r>
            <a:endParaRPr sz="1000" b="0">
              <a:solidFill>
                <a:srgbClr val="3743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3743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奖励 = 产出↑ / 周期↓ / 准时↑ / 瓶颈不空转</a:t>
            </a:r>
            <a:endParaRPr sz="1000" b="0">
              <a:solidFill>
                <a:srgbClr val="3743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3566160"/>
            <a:ext cx="7315200" cy="2743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闭环流程</a:t>
            </a:r>
            <a:endParaRPr sz="1250" b="1">
              <a:solidFill>
                <a:srgbClr val="1620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22960" y="3858768"/>
            <a:ext cx="2194560" cy="621792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41063"/>
            <a:ext cx="2194560" cy="2743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0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车间状态图</a:t>
            </a:r>
            <a:endParaRPr sz="1150" b="1">
              <a:solidFill>
                <a:srgbClr val="1620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" y="4224528"/>
            <a:ext cx="2194560" cy="21945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State Graph</a:t>
            </a:r>
            <a:endParaRPr sz="8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3127248" y="4087368"/>
            <a:ext cx="292608" cy="164592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93592" y="3858768"/>
            <a:ext cx="2194560" cy="621792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3941063"/>
            <a:ext cx="2194560" cy="2743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0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GNN 编码器</a:t>
            </a:r>
            <a:endParaRPr sz="1150" b="1">
              <a:solidFill>
                <a:srgbClr val="1620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93592" y="4224528"/>
            <a:ext cx="2194560" cy="21945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Graph Encoder</a:t>
            </a:r>
            <a:endParaRPr sz="8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ight Arrow 25"/>
          <p:cNvSpPr/>
          <p:nvPr/>
        </p:nvSpPr>
        <p:spPr>
          <a:xfrm>
            <a:off x="5897880" y="4087368"/>
            <a:ext cx="292608" cy="164592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64224" y="3858768"/>
            <a:ext cx="2194560" cy="621792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3941063"/>
            <a:ext cx="2194560" cy="2743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0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PPO 策略网络</a:t>
            </a:r>
            <a:endParaRPr sz="1150" b="1">
              <a:solidFill>
                <a:srgbClr val="1620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64224" y="4224528"/>
            <a:ext cx="2194560" cy="21945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Policy Network</a:t>
            </a:r>
            <a:endParaRPr sz="8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8668511" y="4087368"/>
            <a:ext cx="292608" cy="164592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34856" y="3858768"/>
            <a:ext cx="2194560" cy="621792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34856" y="3941063"/>
            <a:ext cx="2194560" cy="2743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0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 / 派工决策</a:t>
            </a:r>
            <a:endParaRPr sz="1150" b="1">
              <a:solidFill>
                <a:srgbClr val="1620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34856" y="4224528"/>
            <a:ext cx="2194560" cy="21945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Dispatch Action</a:t>
            </a:r>
            <a:endParaRPr sz="8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22960" y="4626864"/>
            <a:ext cx="10515600" cy="402336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数字孪生环境（DES）—— 执行动作、推进时间，返回新状态与奖励，形成闭环训练</a:t>
            </a:r>
            <a:endParaRPr sz="10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5175504"/>
            <a:ext cx="5486400" cy="2743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</a:t>
            </a:r>
            <a:endParaRPr sz="1250" b="1">
              <a:solidFill>
                <a:srgbClr val="1620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22960" y="5468112"/>
            <a:ext cx="2487168" cy="45720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周期时间 ↓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429000" y="5468112"/>
            <a:ext cx="2487168" cy="45720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光刻利用率 ↑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035040" y="5468112"/>
            <a:ext cx="2487168" cy="45720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准时交付 ↑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641080" y="5468112"/>
            <a:ext cx="2487168" cy="45720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 / 急单自动重排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WPS 演示</Application>
  <PresentationFormat>On-screen Show (4:3)</PresentationFormat>
  <Paragraphs>48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35531</cp:lastModifiedBy>
  <cp:revision>2</cp:revision>
  <dcterms:created xsi:type="dcterms:W3CDTF">2013-01-27T09:14:00Z</dcterms:created>
  <dcterms:modified xsi:type="dcterms:W3CDTF">2026-07-06T04:03:28Z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91768C4945DA4552903099A1D5458B82_12</vt:lpwstr>
  </property>
  <property fmtid="{D5CDD505-2E9C-101B-9397-08002B2CF9AE}" pid="3" name="KSOProductBuildVer">
    <vt:lpwstr>2052-12.1.0.26895</vt:lpwstr>
  </property>
</Properties>
</file>