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800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① 痛点与方案 ·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8869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Skill 驱动的测试用例生成与执行闭环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8280" y="310896"/>
            <a:ext cx="28803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测试场景</a:t>
            </a:r>
          </a:p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先行落地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52144"/>
            <a:ext cx="11155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测试痛点：</a:t>
            </a:r>
            <a:r>
              <a:rPr sz="1300" b="1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用例构造与执行耗费大量人力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3611880" cy="859536"/>
          </a:xfrm>
          <a:prstGeom prst="roundRect">
            <a:avLst/>
          </a:prstGeom>
          <a:solidFill>
            <a:srgbClr val="F7ECEA"/>
          </a:solidFill>
          <a:ln w="12700">
            <a:solidFill>
              <a:srgbClr val="E6C9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81328"/>
            <a:ext cx="88900" cy="8595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572768"/>
            <a:ext cx="3209544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① 测试因子组合复杂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1938528"/>
            <a:ext cx="3209544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因子组合规模大，人工分析耗时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481328"/>
            <a:ext cx="3611880" cy="859536"/>
          </a:xfrm>
          <a:prstGeom prst="roundRect">
            <a:avLst/>
          </a:prstGeom>
          <a:solidFill>
            <a:srgbClr val="F7ECEA"/>
          </a:solidFill>
          <a:ln w="12700">
            <a:solidFill>
              <a:srgbClr val="E6C9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481328"/>
            <a:ext cx="88900" cy="8595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1572768"/>
            <a:ext cx="3209544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② 文本用例编写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1938528"/>
            <a:ext cx="3209544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用例数量大，手工编写重复、易遗漏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481328"/>
            <a:ext cx="3611880" cy="859536"/>
          </a:xfrm>
          <a:prstGeom prst="roundRect">
            <a:avLst/>
          </a:prstGeom>
          <a:solidFill>
            <a:srgbClr val="F7ECEA"/>
          </a:solidFill>
          <a:ln w="12700">
            <a:solidFill>
              <a:srgbClr val="E6C9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481328"/>
            <a:ext cx="88900" cy="85953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1572768"/>
            <a:ext cx="3209544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③ 用例执行与问题定位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1938528"/>
            <a:ext cx="3209544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执行耗时，缺陷定位困难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450592"/>
            <a:ext cx="11521440" cy="51206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450592"/>
            <a:ext cx="1115568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解决方案：将业务知识沉淀为 </a:t>
            </a:r>
            <a:r>
              <a:rPr sz="15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Skill</a:t>
            </a: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，自动完成因子分析、用例生成与执行定位，并支撑测试前移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07238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Skill 驱动的测试全流程闭环</a:t>
            </a:r>
            <a:r>
              <a:rPr sz="115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   逐项对应上述痛点，并支撑测试前移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401568"/>
            <a:ext cx="2286000" cy="731520"/>
          </a:xfrm>
          <a:prstGeom prst="round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474720"/>
            <a:ext cx="22860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业务知识 Skill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840480"/>
            <a:ext cx="228600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对应痛点 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7560" y="3401568"/>
            <a:ext cx="2286000" cy="731520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3474720"/>
            <a:ext cx="22860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自动生成文本用例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3840480"/>
            <a:ext cx="228600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对应痛点 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3401568"/>
            <a:ext cx="2286000" cy="731520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474720"/>
            <a:ext cx="22860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自动执行测试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3840480"/>
            <a:ext cx="228600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对应痛点 ③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15400" y="3401568"/>
            <a:ext cx="2286000" cy="731520"/>
          </a:xfrm>
          <a:prstGeom prst="roundRect">
            <a:avLst/>
          </a:prstGeom>
          <a:solidFill>
            <a:srgbClr val="3C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15400" y="3401568"/>
            <a:ext cx="22860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缺陷定位 / 反馈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2889504" y="3630168"/>
            <a:ext cx="384048" cy="274320"/>
          </a:xfrm>
          <a:prstGeom prst="rightArrow">
            <a:avLst/>
          </a:prstGeom>
          <a:solidFill>
            <a:srgbClr val="5A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5678424" y="3630168"/>
            <a:ext cx="384048" cy="274320"/>
          </a:xfrm>
          <a:prstGeom prst="rightArrow">
            <a:avLst/>
          </a:prstGeom>
          <a:solidFill>
            <a:srgbClr val="5A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ight Arrow 36"/>
          <p:cNvSpPr/>
          <p:nvPr/>
        </p:nvSpPr>
        <p:spPr>
          <a:xfrm>
            <a:off x="8467344" y="3630168"/>
            <a:ext cx="384048" cy="274320"/>
          </a:xfrm>
          <a:prstGeom prst="rightArrow">
            <a:avLst/>
          </a:prstGeom>
          <a:solidFill>
            <a:srgbClr val="5A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own Arrow 37"/>
          <p:cNvSpPr/>
          <p:nvPr/>
        </p:nvSpPr>
        <p:spPr>
          <a:xfrm>
            <a:off x="4315968" y="4206240"/>
            <a:ext cx="310896" cy="329184"/>
          </a:xfrm>
          <a:prstGeom prst="downArrow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337560" y="4590288"/>
            <a:ext cx="2286000" cy="731520"/>
          </a:xfrm>
          <a:prstGeom prst="round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37560" y="4590288"/>
            <a:ext cx="228600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交付开发自验证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5678424" y="4818888"/>
            <a:ext cx="384048" cy="274320"/>
          </a:xfrm>
          <a:prstGeom prst="rightArrow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126480" y="4590288"/>
            <a:ext cx="2286000" cy="731520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0" y="4663440"/>
            <a:ext cx="22860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测试前移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5029200"/>
            <a:ext cx="228600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Shift-Left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645152"/>
            <a:ext cx="26517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测试前移：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基于自动生成用例，开发提前自验证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15400" y="4636008"/>
            <a:ext cx="22860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缺陷更早暴露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成本更低、质量更稳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5541264"/>
            <a:ext cx="11521440" cy="365760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541264"/>
            <a:ext cx="111556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能力三级递进：  </a:t>
            </a:r>
            <a:r>
              <a:rPr sz="1100" b="1">
                <a:solidFill>
                  <a:srgbClr val="108A8A"/>
                </a:solidFill>
                <a:latin typeface="微软雅黑"/>
                <a:ea typeface="微软雅黑"/>
                <a:cs typeface="微软雅黑"/>
              </a:rPr>
              <a:t>L1 用例自动生成</a:t>
            </a:r>
            <a:r>
              <a:rPr sz="110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  →  </a:t>
            </a:r>
            <a:r>
              <a:rPr sz="11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L2 生成+执行 全流程自动化</a:t>
            </a:r>
            <a:r>
              <a:rPr sz="110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  →  </a:t>
            </a:r>
            <a:r>
              <a:rPr sz="11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L3 开发自验证 → 测试前移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053328"/>
            <a:ext cx="12191695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053328"/>
            <a:ext cx="110642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业务知识一次沉淀为 Skill，实现用例构造与执行的全流程自动化，提升质量与效率，凸显 Skill 的核心价值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800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② 数字资产与架构 ·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8869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Skill 是数字资产核心,SkillHub 是管理中枢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8280" y="310896"/>
            <a:ext cx="28803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重点:</a:t>
            </a:r>
          </a:p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SkillHub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52144"/>
            <a:ext cx="1133856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实践证明 Skill 的价值 → </a:t>
            </a:r>
            <a:r>
              <a:rPr sz="12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作为公司数字资产核心,如何最大化利用、管理、维护?</a:t>
            </a:r>
            <a:r>
              <a:rPr sz="125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  这正是 Harness ⇄ SkillHub ⇄ Skill 架构要回答的。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371600"/>
            <a:ext cx="3200400" cy="1280160"/>
          </a:xfrm>
          <a:prstGeom prst="round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371600"/>
            <a:ext cx="3017520" cy="2011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治理中枢 · 本页重点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91056"/>
            <a:ext cx="3017520" cy="841248"/>
          </a:xfrm>
          <a:prstGeom prst="round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64208"/>
            <a:ext cx="30175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Harness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39696"/>
            <a:ext cx="30175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运行框架 · 运行时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591056"/>
            <a:ext cx="3017520" cy="841248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664208"/>
            <a:ext cx="30175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SkillHub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139696"/>
            <a:ext cx="30175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技能仓 · 中枢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591056"/>
            <a:ext cx="3017520" cy="841248"/>
          </a:xfrm>
          <a:prstGeom prst="round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1664208"/>
            <a:ext cx="301752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Skill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139696"/>
            <a:ext cx="3017520" cy="2560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技能资产</a:t>
            </a:r>
          </a:p>
        </p:txBody>
      </p:sp>
      <p:sp>
        <p:nvSpPr>
          <p:cNvPr id="20" name="Left-Right Arrow 19"/>
          <p:cNvSpPr/>
          <p:nvPr/>
        </p:nvSpPr>
        <p:spPr>
          <a:xfrm>
            <a:off x="3575304" y="1901952"/>
            <a:ext cx="1124712" cy="219456"/>
          </a:xfrm>
          <a:prstGeom prst="leftRightArrow">
            <a:avLst/>
          </a:prstGeom>
          <a:solidFill>
            <a:srgbClr val="3C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38144" y="1572768"/>
            <a:ext cx="139903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08A8A"/>
                </a:solidFill>
                <a:latin typeface="微软雅黑"/>
                <a:ea typeface="微软雅黑"/>
                <a:cs typeface="微软雅黑"/>
              </a:rPr>
              <a:t>按需检索 · 加载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8144" y="2157984"/>
            <a:ext cx="139903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交付技能 · 版本解析</a:t>
            </a:r>
          </a:p>
        </p:txBody>
      </p:sp>
      <p:sp>
        <p:nvSpPr>
          <p:cNvPr id="23" name="Left-Right Arrow 22"/>
          <p:cNvSpPr/>
          <p:nvPr/>
        </p:nvSpPr>
        <p:spPr>
          <a:xfrm>
            <a:off x="7827264" y="1901952"/>
            <a:ext cx="1124712" cy="219456"/>
          </a:xfrm>
          <a:prstGeom prst="leftRightArrow">
            <a:avLst/>
          </a:prstGeom>
          <a:solidFill>
            <a:srgbClr val="3C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0104" y="1572768"/>
            <a:ext cx="139903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08A8A"/>
                </a:solidFill>
                <a:latin typeface="微软雅黑"/>
                <a:ea typeface="微软雅黑"/>
                <a:cs typeface="微软雅黑"/>
              </a:rPr>
              <a:t>托管 · 注册 · 版本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0104" y="2157984"/>
            <a:ext cx="139903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检索 · 分发 · 治理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487168"/>
            <a:ext cx="3108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运行时:任务编排·工具调用·技能装配·权限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2487168"/>
            <a:ext cx="3108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中枢:托管·版本·检索·分发·治理·审计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2487168"/>
            <a:ext cx="3108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资产:领域指令+资源+脚本,原子/可组合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962656"/>
            <a:ext cx="11521440" cy="31089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2962656"/>
            <a:ext cx="76200" cy="310896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2962656"/>
            <a:ext cx="1115568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闭环:</a:t>
            </a:r>
            <a:r>
              <a:rPr sz="10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Skill 沉淀为资产 → SkillHub 托管治理 → Harness 运行时消费 → 遥测回流 SkillHub,反哺资产迭代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401568"/>
            <a:ext cx="5285232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8640" y="3401568"/>
            <a:ext cx="5285232" cy="457200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3630168"/>
            <a:ext cx="5285232" cy="2286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3401568"/>
            <a:ext cx="491947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SkillHub 治理</a:t>
            </a:r>
            <a:r>
              <a:rPr sz="1100" b="0">
                <a:solidFill>
                  <a:srgbClr val="CFDDEA"/>
                </a:solidFill>
                <a:latin typeface="微软雅黑"/>
                <a:ea typeface="微软雅黑"/>
                <a:cs typeface="微软雅黑"/>
              </a:rPr>
              <a:t>   治理内建于研发流程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3950208"/>
            <a:ext cx="482803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08A8A"/>
                </a:solidFill>
                <a:latin typeface="微软雅黑"/>
                <a:ea typeface="微软雅黑"/>
                <a:cs typeface="微软雅黑"/>
              </a:rPr>
              <a:t>Skills as Code</a:t>
            </a:r>
            <a:r>
              <a:rPr sz="105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  Git 版本化 · PR 评审 · CI 门禁,零流程开销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4334256"/>
            <a:ext cx="4828032" cy="493776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4334256"/>
            <a:ext cx="76200" cy="493776"/>
          </a:xfrm>
          <a:prstGeom prst="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334256"/>
            <a:ext cx="155448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08A8A"/>
                </a:solidFill>
                <a:latin typeface="微软雅黑"/>
                <a:ea typeface="微软雅黑"/>
                <a:cs typeface="微软雅黑"/>
              </a:rPr>
              <a:t>静态门禁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880" y="4334256"/>
            <a:ext cx="3136392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CI:Schema 校验·命名·唯一性·密钥扫描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" y="4919472"/>
            <a:ext cx="4828032" cy="493776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919472"/>
            <a:ext cx="76200" cy="493776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919472"/>
            <a:ext cx="155448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人工评审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68880" y="4919472"/>
            <a:ext cx="3136392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PR:语义质量·安全副作用·最小权限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" y="5504688"/>
            <a:ext cx="4828032" cy="493776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" y="5504688"/>
            <a:ext cx="76200" cy="493776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" y="5504688"/>
            <a:ext cx="155448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运行时管控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68880" y="5504688"/>
            <a:ext cx="3136392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Harness:allowed-tools·调用审计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55080" y="3401568"/>
            <a:ext cx="5285232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355080" y="3401568"/>
            <a:ext cx="5285232" cy="457200"/>
          </a:xfrm>
          <a:prstGeom prst="round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55080" y="3630168"/>
            <a:ext cx="5285232" cy="228600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0" y="3401568"/>
            <a:ext cx="491947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③ 价值</a:t>
            </a:r>
            <a:r>
              <a:rPr sz="1100" b="0">
                <a:solidFill>
                  <a:srgbClr val="5A4010"/>
                </a:solidFill>
                <a:latin typeface="微软雅黑"/>
                <a:ea typeface="微软雅黑"/>
                <a:cs typeface="微软雅黑"/>
              </a:rPr>
              <a:t>   能力资产随复用累积增值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3968496"/>
            <a:ext cx="482803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能力复利:</a:t>
            </a:r>
            <a:r>
              <a:rPr sz="108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沉淀→注册→复用/编排→场景扩张→反哺,随调用量增值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4572000"/>
            <a:ext cx="482803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原子化 × 可组合:</a:t>
            </a:r>
            <a:r>
              <a:rPr sz="108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原子技能编排为合成技能,新场景边际成本递减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5175504"/>
            <a:ext cx="482803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知识资产化:</a:t>
            </a:r>
            <a:r>
              <a:rPr sz="108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隐性经验 → 显式·版本化·可审计的组织资产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583680" y="5715000"/>
            <a:ext cx="4828032" cy="402336"/>
          </a:xfrm>
          <a:prstGeom prst="round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0" y="5715000"/>
            <a:ext cx="4828032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技能复用率 ▢%  ·  节省 ▢ 人天  ·  覆盖场景 ▢  ·  月调用 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800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③ 下一步计划 ·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8869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测试前移 · 全员推广 · 发展 SkillHub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8280" y="310896"/>
            <a:ext cx="28803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从试点</a:t>
            </a:r>
          </a:p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到规模化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611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3611880" cy="566928"/>
          </a:xfrm>
          <a:prstGeom prst="round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00784"/>
            <a:ext cx="3611880" cy="283464"/>
          </a:xfrm>
          <a:prstGeom prst="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417320"/>
            <a:ext cx="36118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 推动测试前移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395728"/>
            <a:ext cx="88900" cy="457200"/>
          </a:xfrm>
          <a:prstGeom prst="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28600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扩大开发自验证的覆盖范围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55848"/>
            <a:ext cx="88900" cy="457200"/>
          </a:xfrm>
          <a:prstGeom prst="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4612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沉淀更多业务测试知识为 Skill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315968"/>
            <a:ext cx="88900" cy="457200"/>
          </a:xfrm>
          <a:prstGeom prst="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20624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目标:缺陷左移,研发提质提效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417320"/>
            <a:ext cx="3611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97680" y="1417320"/>
            <a:ext cx="3611880" cy="566928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1700784"/>
            <a:ext cx="3611880" cy="283464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1417320"/>
            <a:ext cx="36118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 公司内推广宣讲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2395728"/>
            <a:ext cx="889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228600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培训与标杆案例宣讲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3355848"/>
            <a:ext cx="889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324612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鼓励各团队沉淀与复用 Skill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4315968"/>
            <a:ext cx="889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420624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建设贡献者社区与贡献规范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1417320"/>
            <a:ext cx="3611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92440" y="1417320"/>
            <a:ext cx="3611880" cy="566928"/>
          </a:xfrm>
          <a:prstGeom prst="round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92440" y="1700784"/>
            <a:ext cx="3611880" cy="283464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2440" y="1417320"/>
            <a:ext cx="36118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3  发展 SkillHub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2395728"/>
            <a:ext cx="88900" cy="457200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228600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现状:Skills as Code(git+CI)已跑通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3355848"/>
            <a:ext cx="88900" cy="457200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324612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近期:分发 / 检索(Client SDK · 通道)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4315968"/>
            <a:ext cx="88900" cy="457200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420624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中期:遥测 / 审计(可观测 · 合规)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5852160"/>
            <a:ext cx="12191695" cy="5486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目标:让 Skill 成为全公司</a:t>
            </a:r>
            <a:r>
              <a:rPr sz="14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可复用、可治理、持续增值</a:t>
            </a: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的数字资产 —— 从测试场景试点,走向全域规模化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