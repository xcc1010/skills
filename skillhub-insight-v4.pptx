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① 当前实践 ·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基于 Skill 的测试全流程闭环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从实践出发,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验证 Skill 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115568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3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已落地 Skill:</a:t>
            </a: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部署自动化 · 测试用例运行 —— 把测试能力与业务知识沉淀为可复用 Skill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737360"/>
            <a:ext cx="2286000" cy="713232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82880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 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737360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182880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自动生成文本用例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737360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182880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自动执行测试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1737360"/>
            <a:ext cx="2286000" cy="713232"/>
          </a:xfrm>
          <a:prstGeom prst="roundRect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15400" y="182880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结果 / 缺陷反馈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889504" y="1956816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678424" y="1956816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8467344" y="1956816"/>
            <a:ext cx="384048" cy="274320"/>
          </a:xfrm>
          <a:prstGeom prst="rightArrow">
            <a:avLst/>
          </a:prstGeom>
          <a:solidFill>
            <a:srgbClr val="5A66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719072"/>
            <a:ext cx="2286000" cy="21945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400" y="2487168"/>
            <a:ext cx="2286000" cy="20116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3C5A78"/>
                </a:solidFill>
                <a:latin typeface="微软雅黑"/>
                <a:ea typeface="微软雅黑"/>
                <a:cs typeface="微软雅黑"/>
              </a:rPr>
              <a:t>自动化闭环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4315968" y="2487168"/>
            <a:ext cx="310896" cy="384048"/>
          </a:xfrm>
          <a:prstGeom prst="down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3337560" y="2926080"/>
            <a:ext cx="2286000" cy="713232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37560" y="301752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交付开发自验证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678424" y="3145536"/>
            <a:ext cx="384048" cy="274320"/>
          </a:xfrm>
          <a:prstGeom prst="right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26480" y="2926080"/>
            <a:ext cx="2286000" cy="713232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301752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开发侧缺陷自查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467344" y="3145536"/>
            <a:ext cx="384048" cy="274320"/>
          </a:xfrm>
          <a:prstGeom prst="rightArrow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915400" y="2926080"/>
            <a:ext cx="2286000" cy="713232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017520"/>
            <a:ext cx="228600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3328416"/>
            <a:ext cx="22860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Shift-Left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090672"/>
            <a:ext cx="26517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← 基于自动生成的用例</a:t>
            </a: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让开发提前自验证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3950208"/>
            <a:ext cx="7315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能力三级递进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279392"/>
            <a:ext cx="3611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279392"/>
            <a:ext cx="3611880" cy="1016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4443984"/>
            <a:ext cx="31729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L1  用例自动生成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4882896"/>
            <a:ext cx="317296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基于 Skill 自动产出文本测试用例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279392"/>
            <a:ext cx="3611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97680" y="4279392"/>
            <a:ext cx="3611880" cy="101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17136" y="4443984"/>
            <a:ext cx="31729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L2  全流程自动化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17136" y="4882896"/>
            <a:ext cx="317296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业务知识强相关 Skill:用例生成 + 测试执行 一体化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2440" y="4279392"/>
            <a:ext cx="36118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92440" y="4279392"/>
            <a:ext cx="3611880" cy="1016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11896" y="4443984"/>
            <a:ext cx="3172968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L3  测试前移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11896" y="4882896"/>
            <a:ext cx="3172968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2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自动用例交付开发自验证,缺陷更早暴露、成本更低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5943600"/>
            <a:ext cx="12191695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业务知识沉淀为 Skill → 测试全流程闭环 + 测试前移:提质 · 提效 · 经验可复用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② 数字资产与架构 ·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 是数字资产核心,SkillHub 是管理中枢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重点: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152144"/>
            <a:ext cx="11338560" cy="310896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实践证明 Skill 的价值 → </a:t>
            </a: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作为公司数字资产核心,如何最大化利用、管理、维护?</a:t>
            </a:r>
            <a:r>
              <a:rPr sz="12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这正是 Harness ⇄ SkillHub ⇄ Skill 架构要回答的。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63440" y="1371600"/>
            <a:ext cx="3200400" cy="128016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1371600"/>
            <a:ext cx="3017520" cy="20116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★ 治理中枢 · 本次重点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591056"/>
            <a:ext cx="3017520" cy="84124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82496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Harness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121408"/>
            <a:ext cx="30175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运行框架 · 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1591056"/>
            <a:ext cx="3017520" cy="84124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82496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SkillHub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0175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技能仓 · 中枢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91056"/>
            <a:ext cx="3017520" cy="84124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06840" y="1682496"/>
            <a:ext cx="301752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121408"/>
            <a:ext cx="301752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技能资产</a:t>
            </a:r>
          </a:p>
        </p:txBody>
      </p:sp>
      <p:sp>
        <p:nvSpPr>
          <p:cNvPr id="20" name="Left-Right Arrow 19"/>
          <p:cNvSpPr/>
          <p:nvPr/>
        </p:nvSpPr>
        <p:spPr>
          <a:xfrm>
            <a:off x="357530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3814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按需检索 · 加载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814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交付技能 · 版本解析</a:t>
            </a:r>
          </a:p>
        </p:txBody>
      </p:sp>
      <p:sp>
        <p:nvSpPr>
          <p:cNvPr id="23" name="Left-Right Arrow 22"/>
          <p:cNvSpPr/>
          <p:nvPr/>
        </p:nvSpPr>
        <p:spPr>
          <a:xfrm>
            <a:off x="7827264" y="1901952"/>
            <a:ext cx="1124712" cy="219456"/>
          </a:xfrm>
          <a:prstGeom prst="leftRightArrow">
            <a:avLst/>
          </a:prstGeom>
          <a:solidFill>
            <a:srgbClr val="3C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90104" y="1572768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托管 · 注册 · 版本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0104" y="2157984"/>
            <a:ext cx="1399032" cy="237744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00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检索 · 分发 · 治理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运行时:任务编排·工具调用·技能装配·权限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中枢:托管·版本·检索·分发·治理·审计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2487168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00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资产:领域指令+资源+脚本,原子/可组合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962656"/>
            <a:ext cx="11521440" cy="310896"/>
          </a:xfrm>
          <a:prstGeom prst="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2962656"/>
            <a:ext cx="76200" cy="31089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2962656"/>
            <a:ext cx="1115568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闭环:</a:t>
            </a:r>
            <a:r>
              <a:rPr sz="10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Skill 沉淀为资产 → SkillHub 托管治理 → Harness 运行时消费 → 遥测回流 SkillHub,反哺资产迭代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48640" y="3401568"/>
            <a:ext cx="5285232" cy="457200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8640" y="3630168"/>
            <a:ext cx="5285232" cy="2286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② SkillHub 治理</a:t>
            </a:r>
            <a:r>
              <a:rPr sz="1100" b="0">
                <a:solidFill>
                  <a:srgbClr val="CFDDEA"/>
                </a:solidFill>
                <a:latin typeface="微软雅黑"/>
                <a:ea typeface="微软雅黑"/>
                <a:cs typeface="微软雅黑"/>
              </a:rPr>
              <a:t>   治理内建于研发流程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950208"/>
            <a:ext cx="4828032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Skills as Code</a:t>
            </a:r>
            <a:r>
              <a:rPr sz="1050" b="0">
                <a:solidFill>
                  <a:srgbClr val="5A6672"/>
                </a:solidFill>
                <a:latin typeface="微软雅黑"/>
                <a:ea typeface="微软雅黑"/>
                <a:cs typeface="微软雅黑"/>
              </a:rPr>
              <a:t>  Git 版本化 · PR 评审 · CI 门禁,零流程开销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4334256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4334256"/>
            <a:ext cx="76200" cy="493776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4334256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108A8A"/>
                </a:solidFill>
                <a:latin typeface="微软雅黑"/>
                <a:ea typeface="微软雅黑"/>
                <a:cs typeface="微软雅黑"/>
              </a:rPr>
              <a:t>静态门禁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68880" y="4334256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CI:Schema 校验·命名·唯一性·密钥扫描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77240" y="4919472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" y="4919472"/>
            <a:ext cx="76200" cy="493776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919472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人工评审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468880" y="4919472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PR:语义质量·安全副作用·最小权限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77240" y="5504688"/>
            <a:ext cx="4828032" cy="493776"/>
          </a:xfrm>
          <a:prstGeom prst="roundRect">
            <a:avLst/>
          </a:prstGeom>
          <a:solidFill>
            <a:srgbClr val="EEF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77240" y="5504688"/>
            <a:ext cx="76200" cy="493776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5504688"/>
            <a:ext cx="1554480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运行时管控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68880" y="5504688"/>
            <a:ext cx="3136392" cy="49377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Harness:allowed-tools·调用审计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55080" y="3401568"/>
            <a:ext cx="5285232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6355080" y="3401568"/>
            <a:ext cx="5285232" cy="457200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55080" y="3630168"/>
            <a:ext cx="5285232" cy="2286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3401568"/>
            <a:ext cx="4919472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③ 价值</a:t>
            </a:r>
            <a:r>
              <a:rPr sz="1100" b="0">
                <a:solidFill>
                  <a:srgbClr val="5A4010"/>
                </a:solidFill>
                <a:latin typeface="微软雅黑"/>
                <a:ea typeface="微软雅黑"/>
                <a:cs typeface="微软雅黑"/>
              </a:rPr>
              <a:t>   能力资产随复用累积增值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3968496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能力复利: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沉淀→注册→复用/编排→场景扩张→反哺,随调用量增值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83680" y="4572000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原子化 × 可组合: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原子技能编排为合成技能,新场景边际成本递减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5175504"/>
            <a:ext cx="4828032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知识资产化:</a:t>
            </a:r>
            <a:r>
              <a:rPr sz="108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隐性经验 → 显式·版本化·可审计的组织资产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0" y="5715000"/>
            <a:ext cx="4828032" cy="402336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83680" y="5715000"/>
            <a:ext cx="4828032" cy="40233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15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技能复用率 ▢%  ·  节省 ▢ 人天  ·  覆盖场景 ▢  ·  月调用 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24128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24128"/>
            <a:ext cx="12191695" cy="508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25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③ 下一步计划 ·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"/>
            <a:ext cx="886968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2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测试前移 · 全员推广 · 发展 SkillHub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98280" y="310896"/>
            <a:ext cx="288036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从试点</a:t>
            </a:r>
          </a:p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到规模化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417320"/>
            <a:ext cx="3611880" cy="566928"/>
          </a:xfrm>
          <a:prstGeom prst="round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00784"/>
            <a:ext cx="3611880" cy="283464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推动测试前移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39572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扩大开发自验证的覆盖范围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35584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沉淀更多业务测试知识为 Skill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4315968"/>
            <a:ext cx="88900" cy="457200"/>
          </a:xfrm>
          <a:prstGeom prst="rect">
            <a:avLst/>
          </a:prstGeom>
          <a:solidFill>
            <a:srgbClr val="10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目标:缺陷左移,研发提质提效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97680" y="1417320"/>
            <a:ext cx="3611880" cy="566928"/>
          </a:xfrm>
          <a:prstGeom prst="round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97680" y="1700784"/>
            <a:ext cx="3611880" cy="283464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公司内推广宣讲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26280" y="239572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培训 + 标杆案例宣讲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5584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5488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鼓励各团队沉淀 / 复用 Skill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4315968"/>
            <a:ext cx="88900" cy="45720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5488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建设贡献者社区(铺好的路)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1417320"/>
            <a:ext cx="36118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DE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92440" y="1417320"/>
            <a:ext cx="3611880" cy="566928"/>
          </a:xfrm>
          <a:prstGeom prst="round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92440" y="1700784"/>
            <a:ext cx="3611880" cy="283464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92440" y="1417320"/>
            <a:ext cx="3611880" cy="56692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600" b="1">
                <a:solidFill>
                  <a:srgbClr val="0B2A4A"/>
                </a:solidFill>
                <a:latin typeface="微软雅黑"/>
                <a:ea typeface="微软雅黑"/>
                <a:cs typeface="微软雅黑"/>
              </a:rPr>
              <a:t>3  发展 SkillHub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321040" y="239572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28600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现状:Skills as Code(git+CI)已跑通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321040" y="335584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9640" y="324612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近期:分发 / 检索(Client SDK · 通道)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321040" y="4315968"/>
            <a:ext cx="88900" cy="457200"/>
          </a:xfrm>
          <a:prstGeom prst="rect">
            <a:avLst/>
          </a:prstGeom>
          <a:solidFill>
            <a:srgbClr val="D89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206240"/>
            <a:ext cx="2926080" cy="82296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50" b="0">
                <a:solidFill>
                  <a:srgbClr val="1E262E"/>
                </a:solidFill>
                <a:latin typeface="微软雅黑"/>
                <a:ea typeface="微软雅黑"/>
                <a:cs typeface="微软雅黑"/>
              </a:rPr>
              <a:t>中期:遥测 / 审计(可观测 · 合规)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5742432"/>
            <a:ext cx="12191695" cy="18288"/>
          </a:xfrm>
          <a:prstGeom prst="rect">
            <a:avLst/>
          </a:prstGeom>
          <a:solidFill>
            <a:srgbClr val="D6D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52160"/>
            <a:ext cx="12191695" cy="548640"/>
          </a:xfrm>
          <a:prstGeom prst="rect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852160"/>
            <a:ext cx="1106424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目标:让 Skill 成为全公司</a:t>
            </a:r>
            <a:r>
              <a:rPr sz="1400" b="1">
                <a:solidFill>
                  <a:srgbClr val="D89B2A"/>
                </a:solidFill>
                <a:latin typeface="微软雅黑"/>
                <a:ea typeface="微软雅黑"/>
                <a:cs typeface="微软雅黑"/>
              </a:rPr>
              <a:t>可复用、可治理、持续增值</a:t>
            </a:r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的数字资产 —— 从测试场景试点,走向全域规模化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