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0800"/>
          </a:xfrm>
          <a:prstGeom prst="rect">
            <a:avLst/>
          </a:prstGeom>
          <a:solidFill>
            <a:srgbClr val="D89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D89B2A"/>
                </a:solidFill>
                <a:latin typeface="微软雅黑"/>
                <a:ea typeface="微软雅黑"/>
                <a:cs typeface="微软雅黑"/>
              </a:rPr>
              <a:t>洞 察 · INSIGHT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1064240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模型是租来的,技能是攒下来的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微软雅黑"/>
                <a:ea typeface="微软雅黑"/>
                <a:cs typeface="微软雅黑"/>
              </a:rPr>
              <a:t>Skill × SkillHub × Harness —— 把 AI 能力变成可复利的集团资产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1783080"/>
            <a:ext cx="10543032" cy="1078992"/>
          </a:xfrm>
          <a:prstGeom prst="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65376"/>
            <a:ext cx="10543032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22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AI 生产力  =  模型能力  ×  技能资产 (Skill)  ×  运行框架 (Harness)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377440"/>
            <a:ext cx="10543032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租得到 · 商品化            攒得出 · 会复利            组装成产出 · 生产线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54680"/>
            <a:ext cx="3392424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154680"/>
            <a:ext cx="3392424" cy="101600"/>
          </a:xfrm>
          <a:prstGeom prst="rect">
            <a:avLst/>
          </a:prstGeom>
          <a:solidFill>
            <a:srgbClr val="10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355848"/>
            <a:ext cx="299008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108A8A"/>
                </a:solidFill>
                <a:latin typeface="微软雅黑"/>
                <a:ea typeface="微软雅黑"/>
                <a:cs typeface="微软雅黑"/>
              </a:rPr>
              <a:t>Harness  运行框架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813048"/>
            <a:ext cx="299008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1E262E"/>
                </a:solidFill>
                <a:latin typeface="微软雅黑"/>
                <a:ea typeface="微软雅黑"/>
                <a:cs typeface="微软雅黑"/>
              </a:rPr>
              <a:t>生产线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51960"/>
            <a:ext cx="2990088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把模型与技能组装成真正的业务产出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3154680"/>
            <a:ext cx="3392424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98264" y="3154680"/>
            <a:ext cx="3392424" cy="101600"/>
          </a:xfrm>
          <a:prstGeom prst="rect">
            <a:avLst/>
          </a:prstGeom>
          <a:solidFill>
            <a:srgbClr val="D89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3355848"/>
            <a:ext cx="299008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D89B2A"/>
                </a:solidFill>
                <a:latin typeface="微软雅黑"/>
                <a:ea typeface="微软雅黑"/>
                <a:cs typeface="微软雅黑"/>
              </a:rPr>
              <a:t>Skill  技能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813048"/>
            <a:ext cx="299008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1E262E"/>
                </a:solidFill>
                <a:latin typeface="微软雅黑"/>
                <a:ea typeface="微软雅黑"/>
                <a:cs typeface="微软雅黑"/>
              </a:rPr>
              <a:t>标准化专家经验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4251960"/>
            <a:ext cx="2990088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把老师傅的隐性经验,打包成可复用的数据资产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73568" y="3154680"/>
            <a:ext cx="3392424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73568" y="3154680"/>
            <a:ext cx="3392424" cy="1016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3355848"/>
            <a:ext cx="299008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SkillHub  技能仓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74736" y="3813048"/>
            <a:ext cx="299008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1E262E"/>
                </a:solidFill>
                <a:latin typeface="微软雅黑"/>
                <a:ea typeface="微软雅黑"/>
                <a:cs typeface="微软雅黑"/>
              </a:rPr>
              <a:t>资产的银行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4251960"/>
            <a:ext cx="2990088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托管 · 检索 · 复用 · 治理 这些资产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230368"/>
            <a:ext cx="10543032" cy="1143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230368"/>
            <a:ext cx="101600" cy="1143000"/>
          </a:xfrm>
          <a:prstGeom prst="rect">
            <a:avLst/>
          </a:prstGeom>
          <a:solidFill>
            <a:srgbClr val="D89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358384"/>
            <a:ext cx="100584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D89B2A"/>
                </a:solidFill>
                <a:latin typeface="微软雅黑"/>
                <a:ea typeface="微软雅黑"/>
                <a:cs typeface="微软雅黑"/>
              </a:rPr>
              <a:t>关键洞察:</a:t>
            </a: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模型正在快速商品化,谁都买得到;真正拉开差距、且随使用复利增值的,是沉淀下来的技能资产。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微软雅黑"/>
                <a:ea typeface="微软雅黑"/>
                <a:cs typeface="微软雅黑"/>
              </a:rPr>
              <a:t>技能仓,就是把这份资产从“个人脑子里”搬到“集团资产负债表上”的基础设施。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0800"/>
          </a:xfrm>
          <a:prstGeom prst="rect">
            <a:avLst/>
          </a:prstGeom>
          <a:solidFill>
            <a:srgbClr val="D89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D89B2A"/>
                </a:solidFill>
                <a:latin typeface="微软雅黑"/>
                <a:ea typeface="微软雅黑"/>
                <a:cs typeface="微软雅黑"/>
              </a:rPr>
              <a:t>威 力 · POWER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1064240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越用越强的能力飞轮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微软雅黑"/>
                <a:ea typeface="微软雅黑"/>
                <a:cs typeface="微软雅黑"/>
              </a:rPr>
              <a:t>原子技能像乐高,组合出无限业务场景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91640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复利飞轮:用的人越多 → 资产越厚 → 能力越强</a:t>
            </a:r>
          </a:p>
        </p:txBody>
      </p:sp>
      <p:sp>
        <p:nvSpPr>
          <p:cNvPr id="9" name="Pentagon 8"/>
          <p:cNvSpPr/>
          <p:nvPr/>
        </p:nvSpPr>
        <p:spPr>
          <a:xfrm>
            <a:off x="822960" y="2148840"/>
            <a:ext cx="4297680" cy="566928"/>
          </a:xfrm>
          <a:prstGeom prst="homePlate">
            <a:avLst/>
          </a:prstGeom>
          <a:solidFill>
            <a:srgbClr val="10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39319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个人沉淀一个 Skill</a:t>
            </a:r>
          </a:p>
        </p:txBody>
      </p:sp>
      <p:sp>
        <p:nvSpPr>
          <p:cNvPr id="11" name="Pentagon 10"/>
          <p:cNvSpPr/>
          <p:nvPr/>
        </p:nvSpPr>
        <p:spPr>
          <a:xfrm>
            <a:off x="822960" y="2862072"/>
            <a:ext cx="4297680" cy="566928"/>
          </a:xfrm>
          <a:prstGeom prst="homePlate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62072"/>
            <a:ext cx="39319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入仓 → 成为集团共享资产</a:t>
            </a:r>
          </a:p>
        </p:txBody>
      </p:sp>
      <p:sp>
        <p:nvSpPr>
          <p:cNvPr id="13" name="Pentagon 12"/>
          <p:cNvSpPr/>
          <p:nvPr/>
        </p:nvSpPr>
        <p:spPr>
          <a:xfrm>
            <a:off x="822960" y="3575304"/>
            <a:ext cx="4297680" cy="566928"/>
          </a:xfrm>
          <a:prstGeom prst="homePlate">
            <a:avLst/>
          </a:prstGeom>
          <a:solidFill>
            <a:srgbClr val="10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75304"/>
            <a:ext cx="39319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他人复用 / 组合调用</a:t>
            </a:r>
          </a:p>
        </p:txBody>
      </p:sp>
      <p:sp>
        <p:nvSpPr>
          <p:cNvPr id="15" name="Pentagon 14"/>
          <p:cNvSpPr/>
          <p:nvPr/>
        </p:nvSpPr>
        <p:spPr>
          <a:xfrm>
            <a:off x="822960" y="4288536"/>
            <a:ext cx="4297680" cy="566928"/>
          </a:xfrm>
          <a:prstGeom prst="homePlate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88536"/>
            <a:ext cx="39319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覆盖更多业务场景</a:t>
            </a:r>
          </a:p>
        </p:txBody>
      </p:sp>
      <p:sp>
        <p:nvSpPr>
          <p:cNvPr id="17" name="Pentagon 16"/>
          <p:cNvSpPr/>
          <p:nvPr/>
        </p:nvSpPr>
        <p:spPr>
          <a:xfrm>
            <a:off x="822960" y="5001768"/>
            <a:ext cx="4297680" cy="566928"/>
          </a:xfrm>
          <a:prstGeom prst="homePlate">
            <a:avLst/>
          </a:prstGeom>
          <a:solidFill>
            <a:srgbClr val="10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01768"/>
            <a:ext cx="3931920" cy="56692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反哺沉淀更多 Skill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4297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D89B2A"/>
                </a:solidFill>
                <a:latin typeface="微软雅黑"/>
                <a:ea typeface="微软雅黑"/>
                <a:cs typeface="微软雅黑"/>
              </a:rPr>
              <a:t>⟲ 飞轮一旦转起来,便自我增强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77840" y="1783080"/>
            <a:ext cx="5943600" cy="1783080"/>
          </a:xfrm>
          <a:prstGeom prst="round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1938528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原子技能 × 合成技能(中台思想)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377440"/>
            <a:ext cx="5486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>
                <a:solidFill>
                  <a:srgbClr val="1E262E"/>
                </a:solidFill>
                <a:latin typeface="微软雅黑"/>
                <a:ea typeface="微软雅黑"/>
                <a:cs typeface="微软雅黑"/>
              </a:rPr>
              <a:t>•  原子技能 = 最小、可复用的单一能力(乐高积木)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0">
                <a:solidFill>
                  <a:srgbClr val="1E262E"/>
                </a:solidFill>
                <a:latin typeface="微软雅黑"/>
                <a:ea typeface="微软雅黑"/>
                <a:cs typeface="微软雅黑"/>
              </a:rPr>
              <a:t>•  合成技能 = 原子能力的编排组合,搭出复杂业务能力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300" b="1">
                <a:solidFill>
                  <a:srgbClr val="108A8A"/>
                </a:solidFill>
                <a:latin typeface="微软雅黑"/>
                <a:ea typeface="微软雅黑"/>
                <a:cs typeface="微软雅黑"/>
              </a:rPr>
              <a:t>→  新场景边际开发成本递减:不再造轮子,而是“拼装”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77840" y="3749039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Before  vs  After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577840" y="4069080"/>
          <a:ext cx="5943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</a:tblGrid>
              <a:tr h="43434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没有技能仓</a:t>
                      </a:r>
                    </a:p>
                  </a:txBody>
                  <a:tcPr marL="76200" marR="76200" marT="25400" marB="25400" anchor="ctr">
                    <a:solidFill>
                      <a:srgbClr val="5A66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有了技能仓</a:t>
                      </a:r>
                    </a:p>
                  </a:txBody>
                  <a:tcPr marL="76200" marR="76200" marT="25400" marB="25400" anchor="ctr">
                    <a:solidFill>
                      <a:srgbClr val="108A8A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经验锁在个人/项目,人走经验走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经验显性化、可检索、可传承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各团队重复造轮子,质量参差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一次沉淀,全集团复用</a:t>
                      </a:r>
                    </a:p>
                  </a:txBody>
                  <a:tcPr marL="76200" marR="76200" marT="25400" marB="25400" anchor="ctr">
                    <a:solidFill>
                      <a:srgbClr val="EEF2F6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能力无法度量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资产可盘点、可审计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40080" y="6144768"/>
            <a:ext cx="10881360" cy="457200"/>
          </a:xfrm>
          <a:prstGeom prst="rect">
            <a:avLst/>
          </a:prstGeom>
          <a:solidFill>
            <a:srgbClr val="D89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63056"/>
            <a:ext cx="10881360" cy="42062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5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可填量化锚点:  复用率 ▢%   ·   节省重复开发 ▢ 人天   ·   覆盖 ▢ 个业务场景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0"/>
            <a:ext cx="12191695" cy="50800"/>
          </a:xfrm>
          <a:prstGeom prst="rect">
            <a:avLst/>
          </a:prstGeom>
          <a:solidFill>
            <a:srgbClr val="D89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D89B2A"/>
                </a:solidFill>
                <a:latin typeface="微软雅黑"/>
                <a:ea typeface="微软雅黑"/>
                <a:cs typeface="微软雅黑"/>
              </a:rPr>
              <a:t>放 心 用 ·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1064240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低门槛进,可治理,能放心大规模推广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微软雅黑"/>
                <a:ea typeface="微软雅黑"/>
                <a:cs typeface="微软雅黑"/>
              </a:rPr>
              <a:t>把“防护经验”升级成一套可解释的信任模型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三层信任模型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965960"/>
          <a:ext cx="65836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743200"/>
              </a:tblGrid>
              <a:tr h="5715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层级</a:t>
                      </a:r>
                    </a:p>
                  </a:txBody>
                  <a:tcPr marL="88900" marT="38100" marB="381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谁来把关</a:t>
                      </a:r>
                    </a:p>
                  </a:txBody>
                  <a:tcPr marL="88900" marT="38100" marB="381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管什么</a:t>
                      </a:r>
                    </a:p>
                  </a:txBody>
                  <a:tcPr marL="88900" marT="38100" marB="38100" anchor="ctr">
                    <a:solidFill>
                      <a:srgbClr val="0B2A4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A4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机器把关结构</a:t>
                      </a:r>
                    </a:p>
                  </a:txBody>
                  <a:tcPr marL="88900"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CI 自动校验</a:t>
                      </a:r>
                    </a:p>
                  </a:txBody>
                  <a:tcPr marL="88900"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必填字段 · 格式 · 查重 · 密钥扫描</a:t>
                      </a:r>
                    </a:p>
                  </a:txBody>
                  <a:tcPr marL="88900" marT="38100" marB="38100" anchor="ctr">
                    <a:solidFill>
                      <a:srgbClr val="EEF2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A4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人看内容</a:t>
                      </a:r>
                    </a:p>
                  </a:txBody>
                  <a:tcPr marL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PR 评审</a:t>
                      </a:r>
                    </a:p>
                  </a:txBody>
                  <a:tcPr marL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语义质量 · 安全副作用</a:t>
                      </a:r>
                    </a:p>
                  </a:txBody>
                  <a:tcPr marL="88900" marT="38100" marB="381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2A4A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平台兜底</a:t>
                      </a:r>
                    </a:p>
                  </a:txBody>
                  <a:tcPr marL="88900"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运行框架 Harness</a:t>
                      </a:r>
                    </a:p>
                  </a:txBody>
                  <a:tcPr marL="88900" marT="38100" marB="38100" anchor="ctr">
                    <a:solidFill>
                      <a:srgbClr val="EE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E26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最小权限 · 使用审计</a:t>
                      </a:r>
                    </a:p>
                  </a:txBody>
                  <a:tcPr marL="88900" marT="38100" marB="38100" anchor="ctr">
                    <a:solidFill>
                      <a:srgbClr val="EEF2F6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7543800" y="1965960"/>
            <a:ext cx="397763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1965960"/>
            <a:ext cx="88900" cy="1005840"/>
          </a:xfrm>
          <a:prstGeom prst="rect">
            <a:avLst/>
          </a:prstGeom>
          <a:solidFill>
            <a:srgbClr val="10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44968" y="2075688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Skills as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44968" y="2423160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像管代码一样管技能:git + PR,零额外官僚,版本/回滚/审计天然具备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108960"/>
            <a:ext cx="3977639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3108960"/>
            <a:ext cx="88900" cy="1005840"/>
          </a:xfrm>
          <a:prstGeom prst="rect">
            <a:avLst/>
          </a:prstGeom>
          <a:solidFill>
            <a:srgbClr val="D89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44968" y="3218688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铺好的路,而非锁死的门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4968" y="3566160"/>
            <a:ext cx="36576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中心团队做策展(挑选推荐),不做审批(卡关)——门槛太高,大家就绕过去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26280"/>
            <a:ext cx="73152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成熟度路线  simple → complex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892040"/>
            <a:ext cx="3566160" cy="914400"/>
          </a:xfrm>
          <a:prstGeom prst="roundRect">
            <a:avLst/>
          </a:prstGeom>
          <a:solidFill>
            <a:srgbClr val="E3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983480"/>
            <a:ext cx="32004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108A8A"/>
                </a:solidFill>
                <a:latin typeface="微软雅黑"/>
                <a:ea typeface="微软雅黑"/>
                <a:cs typeface="微软雅黑"/>
              </a:rPr>
              <a:t>✅  现在   </a:t>
            </a:r>
            <a:r>
              <a:rPr sz="135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技能仓(Skills as Code)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321808"/>
            <a:ext cx="3200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已跑通,可推广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892040"/>
            <a:ext cx="3566160" cy="914400"/>
          </a:xfrm>
          <a:prstGeom prst="round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60" y="4983480"/>
            <a:ext cx="32004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⬜  下一步   </a:t>
            </a:r>
            <a:r>
              <a:rPr sz="135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按需分发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5321808"/>
            <a:ext cx="3200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灰度通道 · 版本钉定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80" y="4892040"/>
            <a:ext cx="3566160" cy="914400"/>
          </a:xfrm>
          <a:prstGeom prst="roundRect">
            <a:avLst/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4983480"/>
            <a:ext cx="32004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⬜  再下一步   </a:t>
            </a:r>
            <a:r>
              <a:rPr sz="1350" b="1">
                <a:solidFill>
                  <a:srgbClr val="0B2A4A"/>
                </a:solidFill>
                <a:latin typeface="微软雅黑"/>
                <a:ea typeface="微软雅黑"/>
                <a:cs typeface="微软雅黑"/>
              </a:rPr>
              <a:t>使用遥测 / 审计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5321808"/>
            <a:ext cx="3200400" cy="411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微软雅黑"/>
                <a:ea typeface="微软雅黑"/>
                <a:cs typeface="微软雅黑"/>
              </a:rPr>
              <a:t>谁·何时·用了哪个技能,合规可观测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053328"/>
            <a:ext cx="10908792" cy="54864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053328"/>
            <a:ext cx="10908792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既能放手让全集团沉淀资产,又守得住质量与安全的底线 —— 进得来 · 管得住 · 可演进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